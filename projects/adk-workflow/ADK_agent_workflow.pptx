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2000"/>
            </a:avLst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66413" y="526694"/>
            <a:ext cx="4656124" cy="37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90909"/>
                </a:solidFill>
                <a:latin typeface="Poppins"/>
              </a:defRPr>
            </a:pPr>
            <a:r>
              <a:t>ADK agent -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9932" y="1536192"/>
            <a:ext cx="3142884" cy="1703527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9932" y="1536192"/>
            <a:ext cx="3142884" cy="320040"/>
          </a:xfrm>
          <a:prstGeom prst="rect">
            <a:avLst/>
          </a:prstGeom>
          <a:solidFill>
            <a:srgbClr val="458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932" y="1536192"/>
            <a:ext cx="31428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oppins"/>
              </a:defRPr>
            </a:pPr>
            <a:r>
              <a:t>Sequential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372" y="2919679"/>
            <a:ext cx="29600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Poppins"/>
              </a:defRPr>
            </a:pPr>
            <a:r>
              <a:t>Chains multiple specialized LLMs in a pipeline.</a:t>
            </a:r>
          </a:p>
        </p:txBody>
      </p:sp>
      <p:sp>
        <p:nvSpPr>
          <p:cNvPr id="8" name="Oval 7"/>
          <p:cNvSpPr/>
          <p:nvPr/>
        </p:nvSpPr>
        <p:spPr>
          <a:xfrm>
            <a:off x="861046" y="2131923"/>
            <a:ext cx="512064" cy="512064"/>
          </a:xfrm>
          <a:prstGeom prst="ellipse">
            <a:avLst/>
          </a:prstGeom>
          <a:solidFill>
            <a:srgbClr val="458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014" y="2298344"/>
            <a:ext cx="1024128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Poppins"/>
              </a:defRPr>
            </a:pPr>
            <a:r>
              <a:t>Input</a:t>
            </a:r>
          </a:p>
        </p:txBody>
      </p:sp>
      <p:sp>
        <p:nvSpPr>
          <p:cNvPr id="10" name="Oval 9"/>
          <p:cNvSpPr/>
          <p:nvPr/>
        </p:nvSpPr>
        <p:spPr>
          <a:xfrm>
            <a:off x="1678196" y="2131923"/>
            <a:ext cx="512064" cy="512064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2164" y="2298344"/>
            <a:ext cx="1024128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Poppins"/>
              </a:defRPr>
            </a:pPr>
            <a:r>
              <a:t>LLM</a:t>
            </a:r>
          </a:p>
        </p:txBody>
      </p:sp>
      <p:sp>
        <p:nvSpPr>
          <p:cNvPr id="12" name="Oval 11"/>
          <p:cNvSpPr/>
          <p:nvPr/>
        </p:nvSpPr>
        <p:spPr>
          <a:xfrm>
            <a:off x="2432488" y="2131923"/>
            <a:ext cx="512064" cy="512064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6456" y="2298344"/>
            <a:ext cx="1024128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Poppins"/>
              </a:defRPr>
            </a:pPr>
            <a:r>
              <a:t>LLM</a:t>
            </a:r>
          </a:p>
        </p:txBody>
      </p:sp>
      <p:sp>
        <p:nvSpPr>
          <p:cNvPr id="14" name="Oval 13"/>
          <p:cNvSpPr/>
          <p:nvPr/>
        </p:nvSpPr>
        <p:spPr>
          <a:xfrm>
            <a:off x="3249638" y="2131923"/>
            <a:ext cx="512064" cy="512064"/>
          </a:xfrm>
          <a:prstGeom prst="ellipse">
            <a:avLst/>
          </a:prstGeom>
          <a:solidFill>
            <a:srgbClr val="458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3606" y="2298344"/>
            <a:ext cx="1024128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Poppins"/>
              </a:defRPr>
            </a:pPr>
            <a:r>
              <a:t>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3110" y="2381605"/>
            <a:ext cx="305085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260" y="2381605"/>
            <a:ext cx="242228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4552" y="2381605"/>
            <a:ext cx="305085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910" y="1947672"/>
            <a:ext cx="148000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F6368"/>
                </a:solidFill>
                <a:latin typeface="Poppins"/>
              </a:defRPr>
            </a:pPr>
            <a:r>
              <a:t>Intermediate result...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3060" y="2462479"/>
            <a:ext cx="148000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F6368"/>
                </a:solidFill>
                <a:latin typeface="Poppins"/>
              </a:defRPr>
            </a:pPr>
            <a:r>
              <a:t>Intermediate Result...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5622" y="1536192"/>
            <a:ext cx="3142884" cy="1703527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5622" y="1536192"/>
            <a:ext cx="3142884" cy="320040"/>
          </a:xfrm>
          <a:prstGeom prst="rect">
            <a:avLst/>
          </a:prstGeom>
          <a:solidFill>
            <a:srgbClr val="F5C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5622" y="1536192"/>
            <a:ext cx="31428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oppins"/>
              </a:defRPr>
            </a:pPr>
            <a:r>
              <a:t>Parallel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7062" y="2919679"/>
            <a:ext cx="29600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Poppins"/>
              </a:defRPr>
            </a:pPr>
            <a:r>
              <a:t>Multiple LLMs concurrently and aggregate outputs</a:t>
            </a:r>
          </a:p>
        </p:txBody>
      </p:sp>
      <p:sp>
        <p:nvSpPr>
          <p:cNvPr id="25" name="Oval 24"/>
          <p:cNvSpPr/>
          <p:nvPr/>
        </p:nvSpPr>
        <p:spPr>
          <a:xfrm>
            <a:off x="4111021" y="2131923"/>
            <a:ext cx="512064" cy="512064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4989" y="2298344"/>
            <a:ext cx="1024128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Poppins"/>
              </a:defRPr>
            </a:pPr>
            <a:r>
              <a:t>Input</a:t>
            </a:r>
          </a:p>
        </p:txBody>
      </p:sp>
      <p:sp>
        <p:nvSpPr>
          <p:cNvPr id="27" name="Oval 26"/>
          <p:cNvSpPr/>
          <p:nvPr/>
        </p:nvSpPr>
        <p:spPr>
          <a:xfrm>
            <a:off x="5179602" y="2015749"/>
            <a:ext cx="512064" cy="512064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7538" y="1759717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oppins"/>
              </a:defRPr>
            </a:pPr>
            <a:r>
              <a:t>LLM</a:t>
            </a:r>
          </a:p>
        </p:txBody>
      </p:sp>
      <p:sp>
        <p:nvSpPr>
          <p:cNvPr id="29" name="Oval 28"/>
          <p:cNvSpPr/>
          <p:nvPr/>
        </p:nvSpPr>
        <p:spPr>
          <a:xfrm>
            <a:off x="5179602" y="2131923"/>
            <a:ext cx="512064" cy="512064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7538" y="2003907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oppins"/>
              </a:defRPr>
            </a:pPr>
            <a:r>
              <a:t>LLM</a:t>
            </a:r>
          </a:p>
        </p:txBody>
      </p:sp>
      <p:sp>
        <p:nvSpPr>
          <p:cNvPr id="31" name="Oval 30"/>
          <p:cNvSpPr/>
          <p:nvPr/>
        </p:nvSpPr>
        <p:spPr>
          <a:xfrm>
            <a:off x="5179602" y="2504130"/>
            <a:ext cx="512064" cy="512064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7538" y="2248098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oppins"/>
              </a:defRPr>
            </a:pPr>
            <a:r>
              <a:t>LLM</a:t>
            </a:r>
          </a:p>
        </p:txBody>
      </p:sp>
      <p:sp>
        <p:nvSpPr>
          <p:cNvPr id="33" name="Oval 32"/>
          <p:cNvSpPr/>
          <p:nvPr/>
        </p:nvSpPr>
        <p:spPr>
          <a:xfrm>
            <a:off x="6122467" y="2131923"/>
            <a:ext cx="512064" cy="512064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66435" y="2298344"/>
            <a:ext cx="1024128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Poppins"/>
              </a:defRPr>
            </a:pPr>
            <a:r>
              <a:t>Aggregator</a:t>
            </a:r>
          </a:p>
        </p:txBody>
      </p:sp>
      <p:sp>
        <p:nvSpPr>
          <p:cNvPr id="35" name="Oval 34"/>
          <p:cNvSpPr/>
          <p:nvPr/>
        </p:nvSpPr>
        <p:spPr>
          <a:xfrm>
            <a:off x="6751044" y="2131923"/>
            <a:ext cx="512064" cy="512064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5012" y="2298344"/>
            <a:ext cx="1024128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Poppins"/>
              </a:defRPr>
            </a:pPr>
            <a:r>
              <a:t>Output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23085" y="2009399"/>
            <a:ext cx="556516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91666" y="2009399"/>
            <a:ext cx="430801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23085" y="2381605"/>
            <a:ext cx="556516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91666" y="2381605"/>
            <a:ext cx="430801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23085" y="2753812"/>
            <a:ext cx="556516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91666" y="2753812"/>
            <a:ext cx="430801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34531" y="2381605"/>
            <a:ext cx="116512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91313" y="1536192"/>
            <a:ext cx="4306915" cy="1703527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91313" y="1536192"/>
            <a:ext cx="4306915" cy="320040"/>
          </a:xfrm>
          <a:prstGeom prst="rect">
            <a:avLst/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1313" y="1536192"/>
            <a:ext cx="43069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oppins"/>
              </a:defRPr>
            </a:pPr>
            <a:r>
              <a:t>Hierarchical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2753" y="2919679"/>
            <a:ext cx="41240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Poppins"/>
              </a:defRPr>
            </a:pPr>
            <a:r>
              <a:t>Router model to direct inputs to specialized LLMs based on content or intent</a:t>
            </a:r>
          </a:p>
        </p:txBody>
      </p:sp>
      <p:sp>
        <p:nvSpPr>
          <p:cNvPr id="48" name="Oval 47"/>
          <p:cNvSpPr/>
          <p:nvPr/>
        </p:nvSpPr>
        <p:spPr>
          <a:xfrm>
            <a:off x="7609917" y="2205075"/>
            <a:ext cx="365760" cy="365760"/>
          </a:xfrm>
          <a:prstGeom prst="ellipse">
            <a:avLst/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27037" y="2323947"/>
            <a:ext cx="73152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Poppins"/>
              </a:defRPr>
            </a:pPr>
            <a:r>
              <a:t>Input</a:t>
            </a:r>
          </a:p>
        </p:txBody>
      </p:sp>
      <p:sp>
        <p:nvSpPr>
          <p:cNvPr id="50" name="Oval 49"/>
          <p:cNvSpPr/>
          <p:nvPr/>
        </p:nvSpPr>
        <p:spPr>
          <a:xfrm>
            <a:off x="8994623" y="3022092"/>
            <a:ext cx="438912" cy="438912"/>
          </a:xfrm>
          <a:prstGeom prst="ellipse">
            <a:avLst/>
          </a:prstGeom>
          <a:solidFill>
            <a:srgbClr val="EA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5167" y="3164738"/>
            <a:ext cx="877824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Poppins"/>
              </a:defRPr>
            </a:pPr>
            <a:r>
              <a:t>LLM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65439" y="28757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90909"/>
                </a:solidFill>
                <a:latin typeface="Poppins"/>
              </a:defRPr>
            </a:pPr>
            <a:r>
              <a:t>processing</a:t>
            </a:r>
            <a:br/>
            <a:r>
              <a:t>Router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5439" y="35158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F6368"/>
                </a:solidFill>
                <a:latin typeface="Poppins"/>
              </a:defRPr>
            </a:pPr>
            <a:r>
              <a:t>Analysis and classification</a:t>
            </a:r>
          </a:p>
        </p:txBody>
      </p:sp>
      <p:sp>
        <p:nvSpPr>
          <p:cNvPr id="54" name="Oval 53"/>
          <p:cNvSpPr/>
          <p:nvPr/>
        </p:nvSpPr>
        <p:spPr>
          <a:xfrm>
            <a:off x="9579839" y="3022092"/>
            <a:ext cx="365760" cy="36576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96959" y="27477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oppins"/>
              </a:defRPr>
            </a:pPr>
            <a:r>
              <a:t>LLM</a:t>
            </a:r>
          </a:p>
        </p:txBody>
      </p:sp>
      <p:sp>
        <p:nvSpPr>
          <p:cNvPr id="56" name="Oval 55"/>
          <p:cNvSpPr/>
          <p:nvPr/>
        </p:nvSpPr>
        <p:spPr>
          <a:xfrm>
            <a:off x="9031199" y="3022092"/>
            <a:ext cx="365760" cy="36576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48319" y="27477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oppins"/>
              </a:defRPr>
            </a:pPr>
            <a:r>
              <a:t>LLM</a:t>
            </a:r>
          </a:p>
        </p:txBody>
      </p:sp>
      <p:sp>
        <p:nvSpPr>
          <p:cNvPr id="58" name="Oval 57"/>
          <p:cNvSpPr/>
          <p:nvPr/>
        </p:nvSpPr>
        <p:spPr>
          <a:xfrm>
            <a:off x="8482559" y="3022092"/>
            <a:ext cx="365760" cy="36576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99679" y="27477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oppins"/>
              </a:defRPr>
            </a:pPr>
            <a:r>
              <a:t>LLM</a:t>
            </a:r>
          </a:p>
        </p:txBody>
      </p:sp>
      <p:sp>
        <p:nvSpPr>
          <p:cNvPr id="60" name="Oval 59"/>
          <p:cNvSpPr/>
          <p:nvPr/>
        </p:nvSpPr>
        <p:spPr>
          <a:xfrm>
            <a:off x="11061943" y="2168499"/>
            <a:ext cx="438912" cy="438912"/>
          </a:xfrm>
          <a:prstGeom prst="ellipse">
            <a:avLst/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42487" y="2311146"/>
            <a:ext cx="877824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Poppins"/>
              </a:defRPr>
            </a:pPr>
            <a:r>
              <a:t>Output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62719" y="2381605"/>
            <a:ext cx="12700" cy="634136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14079" y="2381605"/>
            <a:ext cx="12700" cy="634136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665439" y="2381605"/>
            <a:ext cx="12700" cy="634136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45599" y="3400552"/>
            <a:ext cx="1152919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396959" y="3400552"/>
            <a:ext cx="1701559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48319" y="3400552"/>
            <a:ext cx="2250199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975677" y="2381605"/>
            <a:ext cx="1055522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396959" y="2473131"/>
            <a:ext cx="1701559" cy="127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9932" y="3429000"/>
            <a:ext cx="3026481" cy="296539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9932" y="3429000"/>
            <a:ext cx="302648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Poppins"/>
              </a:defRPr>
            </a:pPr>
            <a:r>
              <a:t>Sequential agent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9932" y="3703320"/>
            <a:ext cx="3026481" cy="19050"/>
          </a:xfrm>
          <a:prstGeom prst="rect">
            <a:avLst/>
          </a:prstGeom>
          <a:solidFill>
            <a:srgbClr val="458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42580" y="4925415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458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61452" y="499856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316900" y="499856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499780" y="5065369"/>
            <a:ext cx="450744" cy="1905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950524" y="4925415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458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069396" y="499856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224844" y="499856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407724" y="5065369"/>
            <a:ext cx="450744" cy="1905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858469" y="4925415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458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77341" y="499856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132789" y="499856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999219" y="3429000"/>
            <a:ext cx="2910078" cy="296539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99219" y="3429000"/>
            <a:ext cx="29100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Poppins"/>
              </a:defRPr>
            </a:pPr>
            <a:r>
              <a:t>Parallel agent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999219" y="3703320"/>
            <a:ext cx="2910078" cy="19050"/>
          </a:xfrm>
          <a:prstGeom prst="rect">
            <a:avLst/>
          </a:prstGeom>
          <a:solidFill>
            <a:srgbClr val="F5C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017747" y="4145843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5C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136619" y="4218995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292067" y="4218995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144723" y="4285797"/>
            <a:ext cx="873023" cy="1905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017747" y="488654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5C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136619" y="495969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292067" y="495969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144723" y="5026498"/>
            <a:ext cx="873023" cy="1905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017747" y="5627245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5C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136619" y="570039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292067" y="570039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144723" y="5767199"/>
            <a:ext cx="873023" cy="1905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142104" y="3429000"/>
            <a:ext cx="3026481" cy="296539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42104" y="3429000"/>
            <a:ext cx="302648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Poppins"/>
              </a:defRPr>
            </a:pPr>
            <a:r>
              <a:t>Loop agent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142104" y="3703320"/>
            <a:ext cx="3026481" cy="19050"/>
          </a:xfrm>
          <a:prstGeom prst="rect">
            <a:avLst/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747400" y="4797399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866272" y="487055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021720" y="487055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806668" y="4797399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925540" y="487055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080988" y="487055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747400" y="5346039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866272" y="541919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021720" y="541919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8806668" y="5346039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925540" y="541919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80988" y="541919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202633" y="4937353"/>
            <a:ext cx="544766" cy="1905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204600" y="4937353"/>
            <a:ext cx="602068" cy="1905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898108" y="5090007"/>
            <a:ext cx="19050" cy="402336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263868" y="5485993"/>
            <a:ext cx="-1059268" cy="1905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838840" y="5090007"/>
            <a:ext cx="19050" cy="402336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401391" y="3429000"/>
            <a:ext cx="1396837" cy="296539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401391" y="3429000"/>
            <a:ext cx="139683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Poppins"/>
              </a:defRPr>
            </a:pPr>
            <a:r>
              <a:t>LLM agent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401391" y="3703320"/>
            <a:ext cx="1396837" cy="19050"/>
          </a:xfrm>
          <a:prstGeom prst="rect">
            <a:avLst/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10513138" y="5891479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632010" y="596463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787458" y="596463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10890284" y="5891479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009156" y="596463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164604" y="596463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11267430" y="5891479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DD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386302" y="596463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541750" y="596463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988063" y="3977640"/>
            <a:ext cx="12700" cy="1913839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988063" y="3977640"/>
            <a:ext cx="12700" cy="1913839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988063" y="3977640"/>
            <a:ext cx="12700" cy="1913839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